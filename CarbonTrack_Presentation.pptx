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5029200" cy="5029200"/>
          </a:xfrm>
          <a:prstGeom prst="ellipse">
            <a:avLst/>
          </a:prstGeom>
          <a:solidFill>
            <a:srgbClr val="123B2E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123B2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594360" cy="594360"/>
          </a:xfrm>
          <a:prstGeom prst="ellipse">
            <a:avLst/>
          </a:prstGeom>
          <a:solidFill>
            <a:srgbClr val="1FCE9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22960" y="914400"/>
            <a:ext cx="594360" cy="594360"/>
          </a:xfrm>
          <a:prstGeom prst="ellipse">
            <a:avLst/>
          </a:prstGeom>
          <a:solidFill>
            <a:srgbClr val="1FCE9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914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C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FCE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 CARBON CREDIT REGISTRY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24028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CarbonTrack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822960" y="35204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tamper-proof carbon credit registry built on the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E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Stellar blockchain using Soroban smart contracts.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4617720"/>
            <a:ext cx="2926080" cy="0"/>
          </a:xfrm>
          <a:prstGeom prst="line">
            <a:avLst/>
          </a:prstGeom>
          <a:noFill/>
          <a:ln w="19050">
            <a:solidFill>
              <a:srgbClr val="0E5C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Kumar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523036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CSE, Narula Institute of Technology (MAKAUT), Kolkata  |  Google Student Ambassador  |  IEEE Computer Society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61722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FA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github.com/ayush-tech3/Stellar-Carbon-Credit-Registry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Traditional Carbon Registries Fall Short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buy and sell carbon credits to offset their climate impact — but centralized registries were never built for cryptographic trust.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101600" dist="38100" dir="5400000">
              <a:srgbClr val="1B2B2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651760"/>
            <a:ext cx="685800" cy="6858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517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68680" y="40233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carbon credits can be minted without any independent verification of the underlying project.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434840" y="228600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101600" dist="38100" dir="5400000">
              <a:srgbClr val="1B2B2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2651760"/>
            <a:ext cx="685800" cy="6858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6517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754880" y="3520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Double-Spending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754880" y="40233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very same credit can be resold to multiple buyers, undermining every offset claim made against it.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321040" y="2286000"/>
            <a:ext cx="3566160" cy="3383280"/>
          </a:xfrm>
          <a:prstGeom prst="roundRect">
            <a:avLst>
              <a:gd name="adj" fmla="val 3243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101600" dist="38100" dir="5400000">
              <a:srgbClr val="1B2B2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41080" y="2651760"/>
            <a:ext cx="685800" cy="68580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7" name="Text 15"/>
          <p:cNvSpPr/>
          <p:nvPr/>
        </p:nvSpPr>
        <p:spPr>
          <a:xfrm>
            <a:off x="8641080" y="2651760"/>
            <a:ext cx="685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641080" y="35204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Lack of Transparency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641080" y="4023360"/>
            <a:ext cx="2926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public, queryable audit trail exists for a credit's full lifecycle — from issuance to retirement.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Transparent, Tamper-Proof Registry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puts the full credit lifecycle on the Stellar blockchain, so every issuance, trade, and retirement is publicly verifiable.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658368" cy="65836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331720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1732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Issue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271576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organizations mint new carbon credits tied to real projects, such as reforestation efforts.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538728"/>
            <a:ext cx="658368" cy="65836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387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17320" y="349300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7320" y="392277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buy, sell, and trade credits freely — every movement is tracked immutably on-chain.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45736"/>
            <a:ext cx="658368" cy="65836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74573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17320" y="4700016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Retire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7320" y="5129784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company claims its offset, the credit is permanently burned and can never be reused.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598932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0E5C4A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59893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blockchain? Double-spending becomes cryptographically impossible — the core trust problem centralized registries can't solve.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0E5C4A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508760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15 Frontend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4297680" y="1508760"/>
            <a:ext cx="7040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Landing, Dashboard, Activity Feed, Transactions, Analytics, Settings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 rot="10800000">
            <a:off x="5998464" y="2299716"/>
            <a:ext cx="164592" cy="137160"/>
          </a:xfrm>
          <a:prstGeom prst="triangle">
            <a:avLst/>
          </a:prstGeom>
          <a:solidFill>
            <a:srgbClr val="5B6E66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441448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0E9E7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441448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Wallet Layer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297680" y="2441448"/>
            <a:ext cx="7040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Freighter Wallet — connect, sign, and manage the user's Stellar account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10800000">
            <a:off x="5998464" y="3232404"/>
            <a:ext cx="164592" cy="137160"/>
          </a:xfrm>
          <a:prstGeom prst="triangle">
            <a:avLst/>
          </a:prstGeom>
          <a:solidFill>
            <a:srgbClr val="5B6E66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374136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0E5C4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374136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Service Layer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297680" y="3374136"/>
            <a:ext cx="7040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Service · Event Service · Transaction Service · Wallet Service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10800000">
            <a:off x="5998464" y="4165092"/>
            <a:ext cx="164592" cy="137160"/>
          </a:xfrm>
          <a:prstGeom prst="triangle">
            <a:avLst/>
          </a:prstGeom>
          <a:solidFill>
            <a:srgbClr val="5B6E66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4306824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0E9E76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306824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Management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297680" y="4306824"/>
            <a:ext cx="7040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Zustand stores (client state) + React Query (server-state cache)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10800000">
            <a:off x="5998464" y="5097780"/>
            <a:ext cx="164592" cy="137160"/>
          </a:xfrm>
          <a:prstGeom prst="triangle">
            <a:avLst/>
          </a:prstGeom>
          <a:solidFill>
            <a:srgbClr val="5B6E6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5239512"/>
            <a:ext cx="11064240" cy="786384"/>
          </a:xfrm>
          <a:prstGeom prst="roundRect">
            <a:avLst>
              <a:gd name="adj" fmla="val 11628"/>
            </a:avLst>
          </a:prstGeom>
          <a:solidFill>
            <a:srgbClr val="0E5C4A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239512"/>
            <a:ext cx="329184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Stellar Testnet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297680" y="5239512"/>
            <a:ext cx="7040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CarbonCreditRegistry &amp; RetirementManager contracts via Soroban RPC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LOGIC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Contract Design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349240" cy="4709160"/>
          </a:xfrm>
          <a:prstGeom prst="roundRect">
            <a:avLst>
              <a:gd name="adj" fmla="val 233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101600" dist="38100" dir="5400000">
              <a:srgbClr val="1B2B23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50876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0E5C4A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5349240" cy="3657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544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carbon_credit_registry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192938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registry — manages the full credit lifecycle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468880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— set admin + link retirement contract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16382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add_issuer / remove_issuer — manage authorized issuers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385876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issue_credits — mint credits for a verified project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22960" y="45537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— move credits between addresses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22960" y="52486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 — burn credits (cross-contract call)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508760"/>
            <a:ext cx="5349240" cy="4709160"/>
          </a:xfrm>
          <a:prstGeom prst="roundRect">
            <a:avLst>
              <a:gd name="adj" fmla="val 233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101600" dist="38100" dir="5400000">
              <a:srgbClr val="1B2B2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50876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0E5C4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3640" y="1920240"/>
            <a:ext cx="5349240" cy="36576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554480"/>
            <a:ext cx="4800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retirement_manager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37960" y="1929384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7F5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ledger with global CO₂ offset tracking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37960" y="2468880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— set admin + link registry contract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537960" y="3163824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— log a retirement (registry-only caller)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37960" y="3858768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get_record / get_by_owner — query retirement history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37960" y="4553712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get_total — global CO₂ tons retired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37960" y="5248656"/>
            <a:ext cx="48006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0000"/>
              </a:lnSpc>
              <a:buSzPct val="100000"/>
              <a:buChar char="▪"/>
            </a:pPr>
            <a:r>
              <a:rPr lang="en-US" sz="115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get_count — total retirement records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Inter-Contract Communication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00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1600200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63040" y="1600200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clicks “Retire Credits” in the Frontend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00100" y="2103120"/>
            <a:ext cx="0" cy="283464"/>
          </a:xfrm>
          <a:prstGeom prst="line">
            <a:avLst/>
          </a:prstGeom>
          <a:noFill/>
          <a:ln w="19050">
            <a:solidFill>
              <a:srgbClr val="0E5C4A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386584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3865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34440" y="2386584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2386584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calls retire(owner, credit_id, amount) on the Registry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0100" y="2889504"/>
            <a:ext cx="0" cy="283464"/>
          </a:xfrm>
          <a:prstGeom prst="line">
            <a:avLst/>
          </a:prstGeom>
          <a:noFill/>
          <a:ln w="19050">
            <a:solidFill>
              <a:srgbClr val="0E5C4A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48640" y="3172968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72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234440" y="3172968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63040" y="3172968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validates ownership and sufficient balance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00100" y="3675888"/>
            <a:ext cx="0" cy="283464"/>
          </a:xfrm>
          <a:prstGeom prst="line">
            <a:avLst/>
          </a:prstGeom>
          <a:noFill/>
          <a:ln w="19050">
            <a:solidFill>
              <a:srgbClr val="0E5C4A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8640" y="395935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9593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1234440" y="3959352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3959352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calls record(...) on the Retirement Manager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00100" y="4462272"/>
            <a:ext cx="0" cy="283464"/>
          </a:xfrm>
          <a:prstGeom prst="line">
            <a:avLst/>
          </a:prstGeom>
          <a:noFill/>
          <a:ln w="19050">
            <a:solidFill>
              <a:srgbClr val="0E5C4A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48640" y="4745736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7457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1234440" y="4745736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63040" y="4745736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 Manager stores the record and increments the global CO₂ counter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0100" y="5248656"/>
            <a:ext cx="0" cy="283464"/>
          </a:xfrm>
          <a:prstGeom prst="line">
            <a:avLst/>
          </a:prstGeom>
          <a:noFill/>
          <a:ln w="19050">
            <a:solidFill>
              <a:srgbClr val="0E5C4A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48640" y="5532120"/>
            <a:ext cx="502920" cy="502920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55321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234440" y="5532120"/>
            <a:ext cx="9509760" cy="603504"/>
          </a:xfrm>
          <a:prstGeom prst="roundRect">
            <a:avLst>
              <a:gd name="adj" fmla="val 12121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63040" y="5532120"/>
            <a:ext cx="90525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deducts the balance and emits a CreditRetired event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Highlights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Contracts (Rust / Soroban)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21408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21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10312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storage: Instance, Persistent, Temporary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743200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743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2724912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(Admin + Issuers)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64992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649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87552" y="3346704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Inter-contract communication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86784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86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87552" y="396849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errors + full event emission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608576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608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87552" y="4590288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upgrade mechanism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5230368"/>
            <a:ext cx="292608" cy="292608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230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87552" y="521208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double-spend prevention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63640" y="1508760"/>
            <a:ext cx="5349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9E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(Next.js 15 / TypeScript)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63640" y="2121408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212140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702552" y="210312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 with impact counter &amp; animations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63640" y="2743200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28" name="Text 26"/>
          <p:cNvSpPr/>
          <p:nvPr/>
        </p:nvSpPr>
        <p:spPr>
          <a:xfrm>
            <a:off x="6263640" y="2743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02552" y="2724912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Activity Feed, Transaction Center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63640" y="3364992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33649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02552" y="3346704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with charts &amp; leaderboards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63640" y="3986784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34" name="Text 32"/>
          <p:cNvSpPr/>
          <p:nvPr/>
        </p:nvSpPr>
        <p:spPr>
          <a:xfrm>
            <a:off x="6263640" y="3986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02552" y="3968496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Freighter wallet connect / disconnect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263640" y="4608576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460857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02552" y="4590288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mobile responsive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263640" y="5230368"/>
            <a:ext cx="292608" cy="292608"/>
          </a:xfrm>
          <a:prstGeom prst="ellipse">
            <a:avLst/>
          </a:prstGeom>
          <a:solidFill>
            <a:srgbClr val="0E9E76"/>
          </a:solidFill>
          <a:ln/>
        </p:spPr>
      </p:sp>
      <p:sp>
        <p:nvSpPr>
          <p:cNvPr id="40" name="Text 38"/>
          <p:cNvSpPr/>
          <p:nvPr/>
        </p:nvSpPr>
        <p:spPr>
          <a:xfrm>
            <a:off x="6263640" y="5230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702552" y="521208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624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glassmorphic theme with emerald accents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 Stack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37160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01368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Rust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2313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soroban-sdk 22.0.1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6002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25112" y="1600200"/>
            <a:ext cx="73152" cy="1371600"/>
          </a:xfrm>
          <a:prstGeom prst="rect">
            <a:avLst/>
          </a:prstGeom>
          <a:solidFill>
            <a:srgbClr val="0E9E76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801368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Stellar Testnet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599432" y="2313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Soroban runtime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1584" y="1600200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01584" y="1600200"/>
            <a:ext cx="73152" cy="137160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14" name="Text 12"/>
          <p:cNvSpPr/>
          <p:nvPr/>
        </p:nvSpPr>
        <p:spPr>
          <a:xfrm>
            <a:off x="8375904" y="1801368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Next.js 15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375904" y="23134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227832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227832"/>
            <a:ext cx="73152" cy="1371600"/>
          </a:xfrm>
          <a:prstGeom prst="rect">
            <a:avLst/>
          </a:prstGeom>
          <a:solidFill>
            <a:srgbClr val="0E9E76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4290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Tailwind CSS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22960" y="394106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shadcn/ui components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5112" y="3227832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25112" y="3227832"/>
            <a:ext cx="73152" cy="137160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22" name="Text 20"/>
          <p:cNvSpPr/>
          <p:nvPr/>
        </p:nvSpPr>
        <p:spPr>
          <a:xfrm>
            <a:off x="4599432" y="34290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Query v5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599432" y="394106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state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1584" y="3227832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01584" y="3227832"/>
            <a:ext cx="73152" cy="1371600"/>
          </a:xfrm>
          <a:prstGeom prst="rect">
            <a:avLst/>
          </a:prstGeom>
          <a:solidFill>
            <a:srgbClr val="0E9E76"/>
          </a:solidFill>
          <a:ln/>
        </p:spPr>
      </p:sp>
      <p:sp>
        <p:nvSpPr>
          <p:cNvPr id="26" name="Text 24"/>
          <p:cNvSpPr/>
          <p:nvPr/>
        </p:nvSpPr>
        <p:spPr>
          <a:xfrm>
            <a:off x="8375904" y="34290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Zustand v5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8375904" y="3941064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state + persistence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855464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855464"/>
            <a:ext cx="73152" cy="137160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50566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Freighter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822960" y="5568696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@stellar/freighter-api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25112" y="4855464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25112" y="4855464"/>
            <a:ext cx="73152" cy="1371600"/>
          </a:xfrm>
          <a:prstGeom prst="rect">
            <a:avLst/>
          </a:prstGeom>
          <a:solidFill>
            <a:srgbClr val="0E9E76"/>
          </a:solidFill>
          <a:ln/>
        </p:spPr>
      </p:sp>
      <p:sp>
        <p:nvSpPr>
          <p:cNvPr id="34" name="Text 32"/>
          <p:cNvSpPr/>
          <p:nvPr/>
        </p:nvSpPr>
        <p:spPr>
          <a:xfrm>
            <a:off x="4599432" y="50566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Recharts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4599432" y="5568696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1584" y="4855464"/>
            <a:ext cx="3520440" cy="1371600"/>
          </a:xfrm>
          <a:prstGeom prst="roundRect">
            <a:avLst>
              <a:gd name="adj" fmla="val 6667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1584" y="4855464"/>
            <a:ext cx="73152" cy="1371600"/>
          </a:xfrm>
          <a:prstGeom prst="rect">
            <a:avLst/>
          </a:prstGeom>
          <a:solidFill>
            <a:srgbClr val="0E5C4A"/>
          </a:solidFill>
          <a:ln/>
        </p:spPr>
      </p:sp>
      <p:sp>
        <p:nvSpPr>
          <p:cNvPr id="38" name="Text 36"/>
          <p:cNvSpPr/>
          <p:nvPr/>
        </p:nvSpPr>
        <p:spPr>
          <a:xfrm>
            <a:off x="8375904" y="5056632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Vitest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8375904" y="5568696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+ GitHub Actions CI/CD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E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Considerations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105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10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Control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22960" y="28529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functions gated by require_auth() plus stored admin / issuer checks.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8105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1810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709160" y="2468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Double-Spend Prevention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09160" y="28529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are atomically deducted before retirement — balances can never go negative.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321040" y="15544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95360" y="18105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1810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595360" y="2468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Cross-Contract Trust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595360" y="28529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RetirementManager accepts calls only from the registered registry contract address.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0690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2960" y="43251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Private Keys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22960" y="53675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signing happens via the Freighter wallet extension — the app never touches keys.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34840" y="40690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09160" y="43251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26" name="Text 24"/>
          <p:cNvSpPr/>
          <p:nvPr/>
        </p:nvSpPr>
        <p:spPr>
          <a:xfrm>
            <a:off x="470916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70916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 Validation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709160" y="53675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must be positive, credit IDs must exist, and addresses are validated.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321040" y="4069080"/>
            <a:ext cx="3566160" cy="2194560"/>
          </a:xfrm>
          <a:prstGeom prst="roundRect">
            <a:avLst>
              <a:gd name="adj" fmla="val 5000"/>
            </a:avLst>
          </a:prstGeom>
          <a:solidFill>
            <a:srgbClr val="F1F7F4"/>
          </a:solidFill>
          <a:ln w="12700">
            <a:solidFill>
              <a:srgbClr val="DCEAE3"/>
            </a:solidFill>
            <a:prstDash val="solid"/>
          </a:ln>
          <a:effectLst>
            <a:outerShdw sx="100000" sy="100000" kx="0" ky="0" algn="bl" rotWithShape="0" blurRad="76200" dist="25400" dir="5400000">
              <a:srgbClr val="1B2B23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595360" y="4325112"/>
            <a:ext cx="502920" cy="502920"/>
          </a:xfrm>
          <a:prstGeom prst="ellipse">
            <a:avLst/>
          </a:prstGeom>
          <a:solidFill>
            <a:srgbClr val="0E5C4A"/>
          </a:solidFill>
          <a:ln/>
        </p:spPr>
      </p:sp>
      <p:sp>
        <p:nvSpPr>
          <p:cNvPr id="31" name="Text 29"/>
          <p:cNvSpPr/>
          <p:nvPr/>
        </p:nvSpPr>
        <p:spPr>
          <a:xfrm>
            <a:off x="8595360" y="43251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595360" y="49834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Retirement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595360" y="5367528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credit is retired, it can never be un-retired — a permanent audit trail.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CarbonTrack — Stellar Carbon Credit Registry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E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029200" cy="5029200"/>
          </a:xfrm>
          <a:prstGeom prst="ellipse">
            <a:avLst/>
          </a:prstGeom>
          <a:solidFill>
            <a:srgbClr val="123B2E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3840480"/>
            <a:ext cx="4572000" cy="4572000"/>
          </a:xfrm>
          <a:prstGeom prst="ellipse">
            <a:avLst/>
          </a:prstGeom>
          <a:solidFill>
            <a:srgbClr val="123B2E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CE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DELIVERABLES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82296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&amp; Links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23B2E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57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CE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 — smart contracts &amp; Next.js frontend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583680" y="196596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github.com/ayush-tech3/Stellar-Carbon-Credit-Registry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23B2E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00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CE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Application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68680" y="3566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frontend on Netlify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83680" y="310896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carbon-credit-registry.netlify.app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2519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123B2E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43434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CE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Video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4709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9D6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minute project walkthrough on YouTube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83680" y="4251960"/>
            <a:ext cx="4846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youtu.be/LXSb4yaDnEI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5623560"/>
            <a:ext cx="11064240" cy="0"/>
          </a:xfrm>
          <a:prstGeom prst="line">
            <a:avLst/>
          </a:prstGeom>
          <a:noFill/>
          <a:ln w="12700">
            <a:solidFill>
              <a:srgbClr val="0E5C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C7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Kumar  —  B.Tech CSE, Narula Institute of Technology  |  Google Student Ambassador  |  IEEE Computer Society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2026-07-30T14:50:47Z</dcterms:created>
  <dcterms:modified xsi:type="dcterms:W3CDTF">2026-07-30T14:50:47Z</dcterms:modified>
</cp:coreProperties>
</file>